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376" y="4075757"/>
            <a:ext cx="4752975" cy="17258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1281261"/>
            <a:ext cx="11581447" cy="151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865"/>
              </a:lnSpc>
            </a:pPr>
            <a:r>
              <a:rPr sz="5100" b="0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 Risk Prediction Using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5100" b="0" i="0" u="none" dirty="0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008858"/>
            <a:ext cx="8572500" cy="338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 Wearable Sensor Technology &amp;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9309" y="3497789"/>
            <a:ext cx="4752975" cy="541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1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sz="160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Artificial Intelligence and Expert Systems</a:t>
            </a:r>
            <a:endParaRPr lang="en-IN" sz="1600" dirty="0">
              <a:solidFill>
                <a:srgbClr val="647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160"/>
              </a:lnSpc>
            </a:pPr>
            <a:r>
              <a:rPr lang="en-IN" sz="160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</a:t>
            </a:r>
            <a:r>
              <a:rPr sz="1600"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MLA0</a:t>
            </a:r>
            <a:r>
              <a:rPr lang="en-IN" sz="16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</a:t>
            </a:r>
            <a:endParaRPr sz="1600" b="0" i="0" u="none" dirty="0">
              <a:solidFill>
                <a:srgbClr val="6474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34477" y="4252644"/>
            <a:ext cx="4752975" cy="2657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1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Topic:</a:t>
            </a:r>
            <a:r>
              <a:rPr b="0" i="0" u="none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Decision Trees in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9228" y="5028347"/>
            <a:ext cx="4752975" cy="1061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 dirty="0">
                <a:solidFill>
                  <a:srgbClr val="F8FAFC"/>
                </a:solidFill>
                <a:latin typeface="Inter"/>
              </a:rPr>
              <a:t>Presented by</a:t>
            </a:r>
            <a:r>
              <a:rPr lang="en-IN" sz="1350" dirty="0">
                <a:solidFill>
                  <a:srgbClr val="F8FAFC"/>
                </a:solidFill>
                <a:latin typeface="Inter"/>
              </a:rPr>
              <a:t>:</a:t>
            </a:r>
          </a:p>
          <a:p>
            <a:pPr algn="ctr">
              <a:lnSpc>
                <a:spcPts val="2160"/>
              </a:lnSpc>
            </a:pPr>
            <a:r>
              <a:rPr lang="en-IN" sz="1350" b="0" i="0" u="none" dirty="0">
                <a:solidFill>
                  <a:srgbClr val="F8FAFC"/>
                </a:solidFill>
                <a:latin typeface="Inter"/>
              </a:rPr>
              <a:t>Shaik Mubarak(192425194)</a:t>
            </a:r>
          </a:p>
          <a:p>
            <a:pPr algn="ctr">
              <a:lnSpc>
                <a:spcPts val="2160"/>
              </a:lnSpc>
            </a:pPr>
            <a:r>
              <a:rPr lang="en-IN" sz="1350" dirty="0">
                <a:solidFill>
                  <a:srgbClr val="F8FAFC"/>
                </a:solidFill>
                <a:latin typeface="Inter"/>
              </a:rPr>
              <a:t>Shaik Aman Hussain(192425021)</a:t>
            </a:r>
          </a:p>
          <a:p>
            <a:pPr algn="ctr">
              <a:lnSpc>
                <a:spcPct val="100000"/>
              </a:lnSpc>
            </a:pPr>
            <a:r>
              <a:rPr lang="en-IN" sz="1350" b="0" i="0" u="none" dirty="0">
                <a:solidFill>
                  <a:srgbClr val="F8FAFC"/>
                </a:solidFill>
                <a:latin typeface="Inter"/>
              </a:rPr>
              <a:t>Y. Neeraj(</a:t>
            </a:r>
            <a:r>
              <a:rPr lang="en-IN" sz="1400" b="0" i="0" u="none" dirty="0">
                <a:solidFill>
                  <a:srgbClr val="F8FAFC"/>
                </a:solidFill>
                <a:latin typeface="Inter"/>
              </a:rPr>
              <a:t>192425043</a:t>
            </a:r>
            <a:r>
              <a:rPr lang="en-IN" sz="1400" dirty="0">
                <a:solidFill>
                  <a:srgbClr val="F8FAFC"/>
                </a:solidFill>
                <a:latin typeface="Inter"/>
              </a:rPr>
              <a:t>)</a:t>
            </a:r>
            <a:endParaRPr sz="1350" b="0" i="0" u="none" dirty="0">
              <a:solidFill>
                <a:srgbClr val="F8FAFC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95425"/>
            <a:ext cx="5229225" cy="4781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495425"/>
            <a:ext cx="5229225" cy="4781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2438400"/>
            <a:ext cx="46705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&amp;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914650"/>
            <a:ext cx="44481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disease diagnosis relies heavily on static, intermittent clinical visits, often missing early warning signs of chronic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971925"/>
            <a:ext cx="4448175" cy="89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machine learning-based predictive system utilizing continuous physiological data and clinical records for early detection.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438400"/>
            <a:ext cx="46705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2914650"/>
            <a:ext cx="44481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leveraging the </a:t>
            </a:r>
            <a:r>
              <a:rPr sz="16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Classification Algorithm</a:t>
            </a:r>
            <a:r>
              <a:rPr sz="16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intelligently maps medical attributes to risk outcomes.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971925"/>
            <a:ext cx="4448175" cy="89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evaluates input features (age, BMI, BP, sensor glucose/HR data) to output an interpretable, real-time prediction of </a:t>
            </a:r>
            <a:r>
              <a:rPr sz="16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Risk</a:t>
            </a:r>
            <a:r>
              <a:rPr sz="16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sz="16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Risk</a:t>
            </a:r>
            <a:r>
              <a:rPr sz="16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581025"/>
            <a:ext cx="11581447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981200"/>
            <a:ext cx="5229225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990725"/>
            <a:ext cx="5210175" cy="3790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9650" y="144780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Evolution: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Predictive analytics is transforming healthcare by identifying high-risk patients before severe symptoms manifest.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259080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Machine Learning:</a:t>
            </a:r>
            <a:r>
              <a:rPr sz="150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 algorithms analyze vast datasets and real-time physiological metrics significantly faster than manual methods.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3733800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Decision Trees?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medicine, "black box" models are distrusted. Decision Trees mimic human logic, providing transparent, rule-based diagnostics.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4876800"/>
            <a:ext cx="4800600" cy="89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Emerging Tech Integration: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Wearable health sensors (smartwatches, IoT monitors) provide continuous vital sign streams, enabling dynamic AI predictions.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1476375"/>
            <a:ext cx="25717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619375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762375"/>
            <a:ext cx="2857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905375"/>
            <a:ext cx="22860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533400"/>
            <a:ext cx="11581447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069776"/>
            <a:ext cx="3422600" cy="4533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25" y="1069776"/>
            <a:ext cx="3422600" cy="4533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225" y="1069776"/>
            <a:ext cx="3422600" cy="4533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889426"/>
            <a:ext cx="11029950" cy="6331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sz="1650" b="0" i="1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"There is a critical need for an automated, highly interpretable machine learning system capable of integrating dynamic patient data to predict disease risk in real-time."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1250" y="1460301"/>
            <a:ext cx="7620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77123" y="2460426"/>
            <a:ext cx="203025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10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936676"/>
            <a:ext cx="2832050" cy="1507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Chronic diseases (e.g., cardiovascular issues) are frequently diagnosed at advanced stages due to infrequent clinical screening and reactive medical approaches.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4851" y="1460301"/>
            <a:ext cx="762000" cy="76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5692" y="2460426"/>
            <a:ext cx="254031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10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9900" y="2936676"/>
            <a:ext cx="2832050" cy="1507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interpretation of complex, multidimensional medical data is time-consuming, highly subjective, and prone to cognitive bias or physician fatigue.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8451" y="1460301"/>
            <a:ext cx="762000" cy="76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34280" y="2460426"/>
            <a:ext cx="273034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10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Continuous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3500" y="2936676"/>
            <a:ext cx="2832050" cy="1507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fail to integrate real-time, continuous data from modern wearable sensors, completely missing sudden physiological anomalies.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9850" y="1688901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2501" y="1688901"/>
            <a:ext cx="2667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8951" y="1688901"/>
            <a:ext cx="3810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155376"/>
            <a:ext cx="11581447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650" y="1371600"/>
            <a:ext cx="10601325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AI-Driven Model: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 and implement a machine learning system using the Decision Tree algorithm for automated disease risk classification.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650" y="2209800"/>
            <a:ext cx="10601325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Modern Sensor Data: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process physiological data streams (heart rate, BP) acquired from modern wearable IoT health sensors.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" y="3048000"/>
            <a:ext cx="10601325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Clinical Interpretability: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 clear, human-readable decision rules that medical practitioners can verify and trust over black-box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3886200"/>
            <a:ext cx="10601325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Feature Selection: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Identify and isolate the most significant predictive features (BMI, glucose, age) to improve algorithmic efficiency.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4724400"/>
            <a:ext cx="10601325" cy="275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Performance: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Rigorously assess model accuracy, precision, and recall against standard clinical validation datasets.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5562600"/>
            <a:ext cx="10601325" cy="275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Proactive Care: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Output actionable "Low Risk" or "High Risk" predictions that directly aid in early medical intervention.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00175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38375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76575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914775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752975"/>
            <a:ext cx="2286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591175"/>
            <a:ext cx="22860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457200"/>
            <a:ext cx="11581447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95425"/>
            <a:ext cx="5229225" cy="4781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495425"/>
            <a:ext cx="5229225" cy="4781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2438400"/>
            <a:ext cx="46705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914650"/>
            <a:ext cx="44481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Currently relies on physical consultations, static laboratory blood tests, and manual observation of patient symptoms.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971925"/>
            <a:ext cx="4448175" cy="89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Doctors use generalized medical scoring systems (e.g., Framingham risk score) calculated manually or via basic spreadsheets based on point-in-time measurements.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162175"/>
            <a:ext cx="46705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EF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33675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2775" y="2733675"/>
            <a:ext cx="4257675" cy="583686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Processing lab results and manually calculating risk takes days.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438525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2775" y="3438525"/>
            <a:ext cx="4257675" cy="583686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Error Margin: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Susceptible to human error and oversight of subtle correlations.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143375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4143375"/>
            <a:ext cx="4257675" cy="583686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&amp; Reactive: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Cannot utilize real-time continuous sensor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848225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4848225"/>
            <a:ext cx="4257675" cy="583686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Issues: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Extremely difficult to track large populations simultaneously.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581025"/>
            <a:ext cx="11581447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Existing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490686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ML System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9525"/>
            <a:ext cx="580072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495425"/>
            <a:ext cx="5229225" cy="1107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1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ML Pipeline:</a:t>
            </a:r>
            <a:r>
              <a:rPr sz="165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 introduce an end-to-end framework that autonomously ingests patient demographics, clinical records, and wearable sensor telemetry.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194446"/>
            <a:ext cx="5229225" cy="1131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Algorithm:</a:t>
            </a:r>
            <a:r>
              <a:rPr sz="16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utilizes a Decision Tree Classifier to recursively partition patient data based on the most critical health indicators.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516338"/>
            <a:ext cx="5229225" cy="18856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65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Interpretability Advantage:</a:t>
            </a:r>
            <a:r>
              <a:rPr sz="16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Unlike neural networks, this system provides </a:t>
            </a:r>
            <a:r>
              <a:rPr sz="1650" b="0" i="1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predictions</a:t>
            </a:r>
            <a:r>
              <a:rPr sz="16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Decision Trees use understandable rules (e.g., </a:t>
            </a:r>
            <a:r>
              <a:rPr sz="1650" b="0" i="1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Glucose &gt; 140 AND Age &gt; 50</a:t>
            </a:r>
            <a:r>
              <a:rPr sz="16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allowing doctors to see exactly </a:t>
            </a:r>
            <a:r>
              <a:rPr sz="1650" b="0" i="1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sz="16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patient was flagged.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3876982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1390" y="4229407"/>
            <a:ext cx="2084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Patient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562782"/>
            <a:ext cx="198536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Ingestion of Clinical EHR (Age, Gender) and Wearable Sensors (Continuous BP, PPG Heart Rate).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2536" y="2229157"/>
            <a:ext cx="2084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42170" y="2562532"/>
            <a:ext cx="1985367" cy="633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normalization, and handling missing values from disparate sensor 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3682" y="4229407"/>
            <a:ext cx="2084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Feature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3316" y="4562782"/>
            <a:ext cx="1985367" cy="633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Isolating top predictors like BMI, Glucose, and Cholesterol to optimize model 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4827" y="2229157"/>
            <a:ext cx="2084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4462" y="2562532"/>
            <a:ext cx="1985367" cy="633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the Decision Tree algorithm on historical patient cohorts to generate logical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5973" y="4229407"/>
            <a:ext cx="208463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5607" y="4562782"/>
            <a:ext cx="1985367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Algorithmic classification outputting a final, actionable Low Risk or High Risk result.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90857"/>
            <a:ext cx="11581447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59408" y="378173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20554" y="378173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981700" y="378173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42845" y="378173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503991" y="378173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9650" y="1752600"/>
            <a:ext cx="10415434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Integration:</a:t>
            </a:r>
            <a:r>
              <a:rPr sz="150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Combines static records with dynamic data from optical sensors (e.g., smartwatch PPG sensors emitting green LEDs).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2895600"/>
            <a:ext cx="9727176" cy="275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Ingestion:</a:t>
            </a:r>
            <a:r>
              <a:rPr sz="150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Importing CSVs, relational databases, and real-time IoT sensor APIs.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3733800"/>
            <a:ext cx="9284724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Values:</a:t>
            </a:r>
            <a:r>
              <a:rPr sz="150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Utilizing mean or median imputation techniques to ensure incomplete records don't crash the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4876800"/>
            <a:ext cx="8606298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r>
              <a:rPr sz="150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Scaling disparate sensor readings (e.g., heart rate vs. glucose) to a uniform standard for the algorithm.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781175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924175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762375"/>
            <a:ext cx="25717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905375"/>
            <a:ext cx="22860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581025"/>
            <a:ext cx="11581447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Data Collection &amp; Preprocessing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95425"/>
            <a:ext cx="5229225" cy="4781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495425"/>
            <a:ext cx="5229225" cy="4781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2095500"/>
            <a:ext cx="46705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571750"/>
            <a:ext cx="44481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is the process of isolating the most relevant, influential variables from the dataset while dropping redundant or noisy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629025"/>
            <a:ext cx="4448175" cy="275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Input Features Evaluated: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1909762"/>
            <a:ext cx="46705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2386012"/>
            <a:ext cx="4448175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Model Accuracy: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Removes irrelevant data that could confuse the Decision Tree splitting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3443287"/>
            <a:ext cx="4448175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Ensures the model learns actual risk patterns rather than memorizing training noise.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4500562"/>
            <a:ext cx="4448175" cy="89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Optimizes Processing Speed: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Absolutely vital for systems that process high-frequency, real-time data from wearable sensors, allowing for faster response times.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4267200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4267200"/>
            <a:ext cx="4257675" cy="275909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Age, Gender, BMI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4572000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4572000"/>
            <a:ext cx="4257675" cy="275909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Fasting Glucose Levels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4876800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4876800"/>
            <a:ext cx="4257675" cy="275909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Systolic/Diastolic Blood Pressure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5181600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2050" y="5181600"/>
            <a:ext cx="4257675" cy="275909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Serum Cholesterol &amp; Smoking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Feature Selection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328886"/>
            <a:ext cx="5229225" cy="511462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1328886"/>
            <a:ext cx="5229225" cy="511462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4529286"/>
            <a:ext cx="4448175" cy="152370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2275" y="4624833"/>
            <a:ext cx="4448175" cy="10468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1550" y="1719411"/>
            <a:ext cx="46705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Algorithmic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2195661"/>
            <a:ext cx="4448175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tree splits data recursively into subsets based on feature values to maximize data homogeneity.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2100708"/>
            <a:ext cx="46705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Splitting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2576958"/>
            <a:ext cx="4448175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Measures how much a specific feature reduces the overall entropy of the dataset.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3634233"/>
            <a:ext cx="4448175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Measures the impurity or randomness in the data before a split occurs.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3424386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3424386"/>
            <a:ext cx="4257675" cy="275909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Node: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Most significant predictor.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3729186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3729186"/>
            <a:ext cx="4257675" cy="275909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Nodes: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Conditional sub-questions.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4033986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4033986"/>
            <a:ext cx="4257675" cy="275909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Nodes: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Final predicted outcome.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415" y="4872483"/>
            <a:ext cx="3251745" cy="55155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414486"/>
            <a:ext cx="11581447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Decision Tree Classification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637" y="1981200"/>
            <a:ext cx="3810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690937"/>
            <a:ext cx="5229225" cy="2781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81750" y="1300162"/>
            <a:ext cx="549068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Executing the Final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1776412"/>
            <a:ext cx="5229225" cy="89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 trained, real-time patient data traverses the tree from the root to a leaf node. The specific path taken represents a verifiable clinical rule, ensuring complete diagnostic transparency.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3281362"/>
            <a:ext cx="5490686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 Interface: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8737" y="2019300"/>
            <a:ext cx="3733800" cy="3733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385762"/>
            <a:ext cx="11581447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 Disease Risk Prediction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4962"/>
            <a:ext cx="3422600" cy="4562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25" y="1604962"/>
            <a:ext cx="3422600" cy="4562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225" y="1604962"/>
            <a:ext cx="3422600" cy="4562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1250" y="1995487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5498" y="2995612"/>
            <a:ext cx="297365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Logic &amp; ML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05237"/>
            <a:ext cx="2832050" cy="1507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serves as the primary programming language, utilizing the </a:t>
            </a: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library for the rapid implementation of the DecisionTreeClassifier.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4851" y="1995487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9099" y="2995612"/>
            <a:ext cx="2973652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9900" y="3805237"/>
            <a:ext cx="2832050" cy="1507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heavily utilized for dataframe manipulation, cleaning missing values, and numerical transformations prior to model training.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18451" y="1995487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54295" y="2995612"/>
            <a:ext cx="249031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3500" y="3471862"/>
            <a:ext cx="28320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</a:t>
            </a: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Data distributions, confusion matrices, and tree logic are visualized using </a:t>
            </a: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sz="15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8900" y="2224087"/>
            <a:ext cx="2667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2501" y="2224087"/>
            <a:ext cx="2667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8001" y="2224087"/>
            <a:ext cx="3429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581025"/>
            <a:ext cx="11581447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Technologies Used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1279326"/>
            <a:ext cx="11029950" cy="5836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evaluated using Accuracy, Precision, Recall (Sensitivity - crucial in healthcare to find all actual high-risk patients), and the F1-Score.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6137076"/>
            <a:ext cx="6905625" cy="19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1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Note: Values provided in this table are illustrative examples for presentation/prototype comparison purposes.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2127051"/>
            <a:ext cx="11029950" cy="386715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2127051"/>
          <a:ext cx="11020423" cy="3867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5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4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0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34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Inter"/>
                        </a:rPr>
                        <a:t>Evaluation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Inter"/>
                        </a:rPr>
                        <a:t>Traditional Rule-Based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Inter"/>
                        </a:rPr>
                        <a:t>Proposed Decision Tree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4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Overall 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72.0%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Inter"/>
                        </a:rPr>
                        <a:t>89.5%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34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Recall (Sensitivity)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Inter"/>
                        </a:rPr>
                        <a:t>65.0%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Inter"/>
                        </a:rPr>
                        <a:t>91.2%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34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Processing 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Inter"/>
                        </a:rPr>
                        <a:t>Hours /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Inter"/>
                        </a:rPr>
                        <a:t>&lt; 1 Second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343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CBD5E1"/>
                          </a:solidFill>
                          <a:latin typeface="Inter"/>
                        </a:rPr>
                        <a:t>System Scalability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F4444"/>
                          </a:solidFill>
                          <a:latin typeface="Inter"/>
                        </a:rPr>
                        <a:t>Low (Manual Effort)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10B981"/>
                          </a:solidFill>
                          <a:latin typeface="Inter"/>
                        </a:rPr>
                        <a:t>High (Automated)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5787" y="2893814"/>
            <a:ext cx="27458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31666" y="2893814"/>
            <a:ext cx="41341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65814" y="2893814"/>
            <a:ext cx="41403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5787" y="3665339"/>
            <a:ext cx="27458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31666" y="3665339"/>
            <a:ext cx="41341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65814" y="3665339"/>
            <a:ext cx="41403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85787" y="4436864"/>
            <a:ext cx="27458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31666" y="4436864"/>
            <a:ext cx="41341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465814" y="4436864"/>
            <a:ext cx="41403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85787" y="5208389"/>
            <a:ext cx="27458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31666" y="5208389"/>
            <a:ext cx="413414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65814" y="5208389"/>
            <a:ext cx="414039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1025" y="364926"/>
            <a:ext cx="11581447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Performance Evaluation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209089"/>
            <a:ext cx="8572500" cy="4695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-38685"/>
            <a:ext cx="11581447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6285914"/>
            <a:ext cx="11029950" cy="437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275" y="1599614"/>
            <a:ext cx="8181022" cy="33337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0B9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0275" y="2075864"/>
            <a:ext cx="7791450" cy="89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integrates machine learning with continuous medical sensor data. The Decision Tree model provides a highly accurate, automated, and interpretable tool that helps medical professionals predict disease risk swiftly and transparently.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0275" y="3580814"/>
            <a:ext cx="8181022" cy="33337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B82F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0275" y="1647239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0275" y="3628439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0" y="4104689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0775" y="4104689"/>
            <a:ext cx="7600950" cy="275909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advanced continuous ECG patches and sweat-based biomarker sensors.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409489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0775" y="4409489"/>
            <a:ext cx="7600950" cy="275909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Upgrade to ensemble methods (Random Forest / XGBoost) for even higher accuracy.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019089"/>
            <a:ext cx="10477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0775" y="5019089"/>
            <a:ext cx="7600950" cy="275909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patients to monitor real-time predictive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1374</Words>
  <Application>Microsoft Office PowerPoint</Application>
  <PresentationFormat>Widescreen</PresentationFormat>
  <Paragraphs>137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Inter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Mubarak Shaik</dc:creator>
  <cp:keywords/>
  <dc:description>generated using python-pptx</dc:description>
  <cp:lastModifiedBy>Mubarak Shaik</cp:lastModifiedBy>
  <cp:revision>2</cp:revision>
  <dcterms:created xsi:type="dcterms:W3CDTF">2013-01-27T09:14:16Z</dcterms:created>
  <dcterms:modified xsi:type="dcterms:W3CDTF">2026-08-28T08:01:42Z</dcterms:modified>
  <cp:category/>
</cp:coreProperties>
</file>